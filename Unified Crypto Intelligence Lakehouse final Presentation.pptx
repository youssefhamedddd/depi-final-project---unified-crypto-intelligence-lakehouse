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9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1753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~1 minute.
Open with the story: 'Imagine you're an investment firm trading in the crypto market. You need to study the market well, so you need data that gives you a hallucination-free, unified, real-time picture — streamed or batched from multiple sources. You use NLP to understand people's sentiment, build predictions to forecast the next period, and a dashboard that helps you make decisions.'
Then state the problem plainly: cryptocurrency data comes from multiple heterogeneous sources — market data, social sentiment, and blockchain metrics. Traditional dashboards analyze these sources separately. Our goal was to build an end-to-end Lakehouse pipeline that integrates all these sources and provides analytics, market signals, and ML-based price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~1.5 minutes. Walk the diagram left to right:
1) Sources on the left — market data APIs, social/news streams, blockchain metrics.
2) Ingestion layer — batch jobs and Structured Streaming pull data in continuously.
3) Bronze — raw data landed as-is for full traceability.
4) Silver — cleaned, validated, conformed schemas; batch and streaming joined here.
5) Gold — business-level aggregates: daily coin metrics, sentiment signals, flow signals.
6) From Gold: the ML pipeline trains/serves next-day price predictions, and Power BI reads Gold directly for dashboards.
7) Databricks Workflows orchestrates every stage end-to-end on a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slide — a zoomed-in view of source-to-NLP flow, matching the Medallion layers in the main architecture slide. Remove if it feels redundant.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1C2C5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572000"/>
            <a:ext cx="4754880" cy="47548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DATA ENGINEERING TRACK  ·  GRADUATION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Crypto Intelligence Lakehouse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Lakehouse pipeline unifying market, social and blockchain data into real-time analytics and ML-based price forecasting.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6949440" cy="1965960"/>
          </a:xfrm>
          <a:prstGeom prst="roundRect">
            <a:avLst>
              <a:gd name="adj" fmla="val 4186"/>
            </a:avLst>
          </a:prstGeom>
          <a:solidFill>
            <a:srgbClr val="121B3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315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4645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Hamed Abdelmonim</a:t>
            </a:r>
            <a:r>
              <a:rPr lang="en-US" sz="11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Team Leader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9423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Seif Mohamed Fathi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5239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Mahmoud Hamed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55366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Yehia Yasser Yehia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8338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Nourhan Ahmed Gaber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01000" y="4160520"/>
            <a:ext cx="3364992" cy="1965960"/>
          </a:xfrm>
          <a:prstGeom prst="roundRect">
            <a:avLst>
              <a:gd name="adj" fmla="val 4186"/>
            </a:avLst>
          </a:prstGeom>
          <a:solidFill>
            <a:srgbClr val="17223F"/>
          </a:solidFill>
          <a:ln/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sp>
        <p:nvSpPr>
          <p:cNvPr id="15" name="Text 13"/>
          <p:cNvSpPr/>
          <p:nvPr/>
        </p:nvSpPr>
        <p:spPr>
          <a:xfrm>
            <a:off x="8229600" y="4315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45720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Data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54589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CRYPTO INTELLIGENCE LAKEHOUSE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532120" cy="5074920"/>
          </a:xfrm>
          <a:prstGeom prst="roundRect">
            <a:avLst>
              <a:gd name="adj" fmla="val 1622"/>
            </a:avLst>
          </a:prstGeom>
          <a:solidFill>
            <a:srgbClr val="121B33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53619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ork/build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166786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361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Imagine you're an investment firm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24028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trade in the crypto market and need to read it clearly before every move. Prices move by the second, sentiment shifts on social media, and on-chain activity tells its own story — but it all lives in separate places.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3520440"/>
            <a:ext cx="4892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one live picture: all sources streamed and batched together, NLP to understand what people are really saying, a model that forecasts where the market is headed next, and a dashboard that turns all of it into a decision.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5074920"/>
            <a:ext cx="4892040" cy="1051560"/>
          </a:xfrm>
          <a:prstGeom prst="roundRect">
            <a:avLst>
              <a:gd name="adj" fmla="val 7826"/>
            </a:avLst>
          </a:prstGeom>
          <a:solidFill>
            <a:srgbClr val="1C2C52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507492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exactly the system we built.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63640" y="1234440"/>
            <a:ext cx="5376672" cy="2514600"/>
          </a:xfrm>
          <a:prstGeom prst="roundRect">
            <a:avLst>
              <a:gd name="adj" fmla="val 3273"/>
            </a:avLst>
          </a:prstGeom>
          <a:solidFill>
            <a:srgbClr val="17223F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37960" y="1783080"/>
            <a:ext cx="48920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data comes from heterogeneous sources: market data, social sentiment, blockchain metrics.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dashboards analyze each source separately — no unified view.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end up reactive, not predictive.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63640" y="3886200"/>
            <a:ext cx="5376672" cy="2423160"/>
          </a:xfrm>
          <a:prstGeom prst="roundRect">
            <a:avLst>
              <a:gd name="adj" fmla="val 3396"/>
            </a:avLst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653796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1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37960" y="4407408"/>
            <a:ext cx="4846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Lakehouse pipeline that integrates market, social and blockchain data — delivering analytics, market signals, and ML-based price forecasting in one place.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CRYPTO INTELLIGENCE LAKEHOUSE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work/docs/docs/assets/architec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827" y="1335024"/>
            <a:ext cx="9139299" cy="29626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28623" y="470916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1" descr="/home/claude/work/build/icons/str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519" y="4832055"/>
            <a:ext cx="266273" cy="2662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0352" y="5303520"/>
            <a:ext cx="210860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and streaming ingestion from multiple crypto sources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583534" y="4709160"/>
            <a:ext cx="512064" cy="512064"/>
          </a:xfrm>
          <a:prstGeom prst="ellipse">
            <a:avLst/>
          </a:prstGeom>
          <a:solidFill>
            <a:srgbClr val="1C2C52"/>
          </a:solidFill>
          <a:ln/>
        </p:spPr>
      </p:sp>
      <p:pic>
        <p:nvPicPr>
          <p:cNvPr id="10" name="Image 2" descr="/home/claude/work/build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6429" y="4832055"/>
            <a:ext cx="266273" cy="2662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85262" y="5303520"/>
            <a:ext cx="210860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/ Silver / Gold Medallion Architecture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838444" y="470916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3" descr="/home/claude/work/build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339" y="4832055"/>
            <a:ext cx="266273" cy="2662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40173" y="5303520"/>
            <a:ext cx="210860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Workflows orchestration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8093354" y="4709160"/>
            <a:ext cx="512064" cy="512064"/>
          </a:xfrm>
          <a:prstGeom prst="ellipse">
            <a:avLst/>
          </a:prstGeom>
          <a:solidFill>
            <a:srgbClr val="1C2C52"/>
          </a:solidFill>
          <a:ln/>
        </p:spPr>
      </p:sp>
      <p:pic>
        <p:nvPicPr>
          <p:cNvPr id="16" name="Image 4" descr="/home/claude/work/build/icons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6250" y="4832055"/>
            <a:ext cx="266273" cy="26627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295083" y="5303520"/>
            <a:ext cx="210860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for next-day price prediction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10348265" y="470916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5" descr="/home/claude/work/build/icons/b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1160" y="4832055"/>
            <a:ext cx="266273" cy="26627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549994" y="5303520"/>
            <a:ext cx="210860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for business insights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CRYPTO INTELLIGENCE LAKEHOUSE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NLP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view — how raw sources flow through the Medallion layers into analytics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3526536" cy="960120"/>
          </a:xfrm>
          <a:prstGeom prst="roundRect">
            <a:avLst>
              <a:gd name="adj" fmla="val 8571"/>
            </a:avLst>
          </a:prstGeom>
          <a:solidFill>
            <a:srgbClr val="17223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work/build/icons/co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4592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490472"/>
            <a:ext cx="2657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Data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1975104"/>
            <a:ext cx="3160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volume, market cap — streaming API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31208" y="1353312"/>
            <a:ext cx="3526536" cy="960120"/>
          </a:xfrm>
          <a:prstGeom prst="roundRect">
            <a:avLst>
              <a:gd name="adj" fmla="val 8571"/>
            </a:avLst>
          </a:prstGeom>
          <a:solidFill>
            <a:srgbClr val="17223F"/>
          </a:solidFill>
          <a:ln/>
        </p:spPr>
      </p:sp>
      <p:sp>
        <p:nvSpPr>
          <p:cNvPr id="11" name="Shape 8"/>
          <p:cNvSpPr/>
          <p:nvPr/>
        </p:nvSpPr>
        <p:spPr>
          <a:xfrm>
            <a:off x="4514088" y="15361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work/build/icons/com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816" y="164592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81016" y="1490472"/>
            <a:ext cx="2657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&amp; News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14088" y="1975104"/>
            <a:ext cx="3160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Tweets, Reddit, headlines — raw text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8113776" y="1353312"/>
            <a:ext cx="3526536" cy="960120"/>
          </a:xfrm>
          <a:prstGeom prst="roundRect">
            <a:avLst>
              <a:gd name="adj" fmla="val 8571"/>
            </a:avLst>
          </a:prstGeom>
          <a:solidFill>
            <a:srgbClr val="17223F"/>
          </a:solidFill>
          <a:ln/>
        </p:spPr>
      </p:sp>
      <p:sp>
        <p:nvSpPr>
          <p:cNvPr id="16" name="Shape 12"/>
          <p:cNvSpPr/>
          <p:nvPr/>
        </p:nvSpPr>
        <p:spPr>
          <a:xfrm>
            <a:off x="8296656" y="15361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work/build/icons/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6384" y="164592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63584" y="1490472"/>
            <a:ext cx="2657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Metrics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96656" y="1975104"/>
            <a:ext cx="3160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transactions &amp; exchange flow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2311908" y="2313432"/>
            <a:ext cx="0" cy="219456"/>
          </a:xfrm>
          <a:prstGeom prst="line">
            <a:avLst/>
          </a:prstGeom>
          <a:noFill/>
          <a:ln w="19050">
            <a:solidFill>
              <a:srgbClr val="8493B0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094476" y="2313432"/>
            <a:ext cx="0" cy="219456"/>
          </a:xfrm>
          <a:prstGeom prst="line">
            <a:avLst/>
          </a:prstGeom>
          <a:noFill/>
          <a:ln w="19050">
            <a:solidFill>
              <a:srgbClr val="8493B0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877044" y="2313432"/>
            <a:ext cx="0" cy="219456"/>
          </a:xfrm>
          <a:prstGeom prst="line">
            <a:avLst/>
          </a:prstGeom>
          <a:noFill/>
          <a:ln w="19050">
            <a:solidFill>
              <a:srgbClr val="8493B0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548640" y="2532888"/>
            <a:ext cx="11091672" cy="502920"/>
          </a:xfrm>
          <a:prstGeom prst="roundRect">
            <a:avLst>
              <a:gd name="adj" fmla="val 16364"/>
            </a:avLst>
          </a:prstGeom>
          <a:solidFill>
            <a:srgbClr val="1C2C52"/>
          </a:solidFill>
          <a:ln/>
        </p:spPr>
      </p:sp>
      <p:sp>
        <p:nvSpPr>
          <p:cNvPr id="24" name="Text 19"/>
          <p:cNvSpPr/>
          <p:nvPr/>
        </p:nvSpPr>
        <p:spPr>
          <a:xfrm>
            <a:off x="548640" y="253288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 —  Raw Batch + Structured Streaming Ingestion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094476" y="3035808"/>
            <a:ext cx="0" cy="219456"/>
          </a:xfrm>
          <a:prstGeom prst="line">
            <a:avLst/>
          </a:prstGeom>
          <a:noFill/>
          <a:ln w="19050">
            <a:solidFill>
              <a:srgbClr val="8493B0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548640" y="3255264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121B33"/>
          </a:solidFill>
          <a:ln/>
        </p:spPr>
      </p:sp>
      <p:sp>
        <p:nvSpPr>
          <p:cNvPr id="27" name="Text 22"/>
          <p:cNvSpPr/>
          <p:nvPr/>
        </p:nvSpPr>
        <p:spPr>
          <a:xfrm>
            <a:off x="777240" y="3364992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— CLEANED &amp; ENRICHED DATA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777240" y="3712464"/>
            <a:ext cx="5202936" cy="484632"/>
          </a:xfrm>
          <a:prstGeom prst="roundRect">
            <a:avLst>
              <a:gd name="adj" fmla="val 16981"/>
            </a:avLst>
          </a:prstGeom>
          <a:solidFill>
            <a:srgbClr val="1C2C52"/>
          </a:solidFill>
          <a:ln/>
        </p:spPr>
      </p:sp>
      <p:sp>
        <p:nvSpPr>
          <p:cNvPr id="29" name="Shape 24"/>
          <p:cNvSpPr/>
          <p:nvPr/>
        </p:nvSpPr>
        <p:spPr>
          <a:xfrm>
            <a:off x="932688" y="375361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3" descr="/home/claude/work/build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214" y="3844138"/>
            <a:ext cx="221285" cy="22128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444752" y="3712464"/>
            <a:ext cx="419709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Transformation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208776" y="3712464"/>
            <a:ext cx="5202936" cy="484632"/>
          </a:xfrm>
          <a:prstGeom prst="roundRect">
            <a:avLst>
              <a:gd name="adj" fmla="val 16981"/>
            </a:avLst>
          </a:prstGeom>
          <a:solidFill>
            <a:srgbClr val="F2B134"/>
          </a:solidFill>
          <a:ln/>
        </p:spPr>
      </p:sp>
      <p:sp>
        <p:nvSpPr>
          <p:cNvPr id="33" name="Shape 27"/>
          <p:cNvSpPr/>
          <p:nvPr/>
        </p:nvSpPr>
        <p:spPr>
          <a:xfrm>
            <a:off x="6364224" y="3753612"/>
            <a:ext cx="402336" cy="402336"/>
          </a:xfrm>
          <a:prstGeom prst="ellipse">
            <a:avLst/>
          </a:prstGeom>
          <a:solidFill>
            <a:srgbClr val="0A1224"/>
          </a:solidFill>
          <a:ln/>
        </p:spPr>
      </p:sp>
      <p:pic>
        <p:nvPicPr>
          <p:cNvPr id="34" name="Image 4" descr="/home/claude/work/build/icons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4750" y="3844138"/>
            <a:ext cx="221285" cy="22128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876288" y="3712464"/>
            <a:ext cx="43982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 Engine (on social text)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6094476" y="4306824"/>
            <a:ext cx="0" cy="219456"/>
          </a:xfrm>
          <a:prstGeom prst="line">
            <a:avLst/>
          </a:prstGeom>
          <a:noFill/>
          <a:ln w="19050">
            <a:solidFill>
              <a:srgbClr val="8493B0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548640" y="4526280"/>
            <a:ext cx="11091672" cy="502920"/>
          </a:xfrm>
          <a:prstGeom prst="roundRect">
            <a:avLst>
              <a:gd name="adj" fmla="val 16364"/>
            </a:avLst>
          </a:prstGeom>
          <a:solidFill>
            <a:srgbClr val="1C2C52"/>
          </a:solidFill>
          <a:ln/>
        </p:spPr>
      </p:sp>
      <p:sp>
        <p:nvSpPr>
          <p:cNvPr id="38" name="Text 31"/>
          <p:cNvSpPr/>
          <p:nvPr/>
        </p:nvSpPr>
        <p:spPr>
          <a:xfrm>
            <a:off x="548640" y="452628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—  Aggregated, Business-Ready Metrics</a:t>
            </a:r>
            <a:endParaRPr lang="en-US" sz="1250" dirty="0"/>
          </a:p>
        </p:txBody>
      </p:sp>
      <p:sp>
        <p:nvSpPr>
          <p:cNvPr id="39" name="Shape 32"/>
          <p:cNvSpPr/>
          <p:nvPr/>
        </p:nvSpPr>
        <p:spPr>
          <a:xfrm>
            <a:off x="6094476" y="5029200"/>
            <a:ext cx="0" cy="219456"/>
          </a:xfrm>
          <a:prstGeom prst="line">
            <a:avLst/>
          </a:prstGeom>
          <a:noFill/>
          <a:ln w="1905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40" name="Shape 33"/>
          <p:cNvSpPr/>
          <p:nvPr/>
        </p:nvSpPr>
        <p:spPr>
          <a:xfrm>
            <a:off x="548640" y="5248656"/>
            <a:ext cx="11091672" cy="594360"/>
          </a:xfrm>
          <a:prstGeom prst="roundRect">
            <a:avLst>
              <a:gd name="adj" fmla="val 13846"/>
            </a:avLst>
          </a:prstGeom>
          <a:solidFill>
            <a:srgbClr val="1C7293"/>
          </a:solidFill>
          <a:ln/>
        </p:spPr>
      </p:sp>
      <p:sp>
        <p:nvSpPr>
          <p:cNvPr id="41" name="Text 34"/>
          <p:cNvSpPr/>
          <p:nvPr/>
        </p:nvSpPr>
        <p:spPr>
          <a:xfrm>
            <a:off x="548640" y="5248656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MARKET SIGNALS  &amp;  ML PRICE FORECASTING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CRYPTO INTELLIGENCE LAKEHOUSE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80894" cy="2043684"/>
          </a:xfrm>
          <a:prstGeom prst="roundRect">
            <a:avLst>
              <a:gd name="adj" fmla="val 4027"/>
            </a:avLst>
          </a:prstGeom>
          <a:solidFill>
            <a:srgbClr val="121B33"/>
          </a:solidFill>
          <a:ln/>
        </p:spPr>
      </p:sp>
      <p:sp>
        <p:nvSpPr>
          <p:cNvPr id="5" name="Shape 3"/>
          <p:cNvSpPr/>
          <p:nvPr/>
        </p:nvSpPr>
        <p:spPr>
          <a:xfrm>
            <a:off x="1528191" y="162763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ork/build/icons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421" y="1776862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359152"/>
            <a:ext cx="23614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Data Lake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2907792"/>
            <a:ext cx="23614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cloud storage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85566" y="1371600"/>
            <a:ext cx="2580894" cy="2043684"/>
          </a:xfrm>
          <a:prstGeom prst="roundRect">
            <a:avLst>
              <a:gd name="adj" fmla="val 4027"/>
            </a:avLst>
          </a:prstGeom>
          <a:solidFill>
            <a:srgbClr val="17223F"/>
          </a:solidFill>
          <a:ln/>
        </p:spPr>
      </p:sp>
      <p:sp>
        <p:nvSpPr>
          <p:cNvPr id="10" name="Shape 7"/>
          <p:cNvSpPr/>
          <p:nvPr/>
        </p:nvSpPr>
        <p:spPr>
          <a:xfrm>
            <a:off x="4365117" y="162763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work/build/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347" y="1776862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5294" y="2359152"/>
            <a:ext cx="23614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Databricks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95294" y="2907792"/>
            <a:ext cx="23614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analytics platform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22492" y="1371600"/>
            <a:ext cx="2580894" cy="2043684"/>
          </a:xfrm>
          <a:prstGeom prst="roundRect">
            <a:avLst>
              <a:gd name="adj" fmla="val 4027"/>
            </a:avLst>
          </a:prstGeom>
          <a:solidFill>
            <a:srgbClr val="121B33"/>
          </a:solidFill>
          <a:ln/>
        </p:spPr>
      </p:sp>
      <p:sp>
        <p:nvSpPr>
          <p:cNvPr id="15" name="Shape 11"/>
          <p:cNvSpPr/>
          <p:nvPr/>
        </p:nvSpPr>
        <p:spPr>
          <a:xfrm>
            <a:off x="7202043" y="162763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work/build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273" y="1776862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32220" y="2359152"/>
            <a:ext cx="23614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32220" y="2907792"/>
            <a:ext cx="23614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data processing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059418" y="1371600"/>
            <a:ext cx="2580894" cy="2043684"/>
          </a:xfrm>
          <a:prstGeom prst="roundRect">
            <a:avLst>
              <a:gd name="adj" fmla="val 4027"/>
            </a:avLst>
          </a:prstGeom>
          <a:solidFill>
            <a:srgbClr val="17223F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38969" y="162763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work/build/icons/stre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99" y="1776862"/>
            <a:ext cx="323332" cy="3233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69146" y="2359152"/>
            <a:ext cx="23614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169146" y="2907792"/>
            <a:ext cx="23614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ingestion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671316"/>
            <a:ext cx="2580894" cy="2043684"/>
          </a:xfrm>
          <a:prstGeom prst="roundRect">
            <a:avLst>
              <a:gd name="adj" fmla="val 4027"/>
            </a:avLst>
          </a:prstGeom>
          <a:solidFill>
            <a:srgbClr val="17223F"/>
          </a:solidFill>
          <a:ln/>
        </p:spPr>
      </p:sp>
      <p:sp>
        <p:nvSpPr>
          <p:cNvPr id="25" name="Shape 19"/>
          <p:cNvSpPr/>
          <p:nvPr/>
        </p:nvSpPr>
        <p:spPr>
          <a:xfrm>
            <a:off x="1528191" y="3927348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work/build/icons/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7421" y="4076578"/>
            <a:ext cx="323332" cy="3233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58368" y="4658868"/>
            <a:ext cx="23614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 Lake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58368" y="5207508"/>
            <a:ext cx="23614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Lakehouse tables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85566" y="3671316"/>
            <a:ext cx="2580894" cy="2043684"/>
          </a:xfrm>
          <a:prstGeom prst="roundRect">
            <a:avLst>
              <a:gd name="adj" fmla="val 4027"/>
            </a:avLst>
          </a:prstGeom>
          <a:solidFill>
            <a:srgbClr val="121B33"/>
          </a:solidFill>
          <a:ln/>
        </p:spPr>
      </p:sp>
      <p:sp>
        <p:nvSpPr>
          <p:cNvPr id="30" name="Shape 23"/>
          <p:cNvSpPr/>
          <p:nvPr/>
        </p:nvSpPr>
        <p:spPr>
          <a:xfrm>
            <a:off x="4365117" y="3927348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work/build/icons/b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4347" y="4076578"/>
            <a:ext cx="323332" cy="3233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95294" y="4658868"/>
            <a:ext cx="23614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MLflow /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495294" y="5207508"/>
            <a:ext cx="23614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tracking &amp; modeling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222492" y="3671316"/>
            <a:ext cx="2580894" cy="2043684"/>
          </a:xfrm>
          <a:prstGeom prst="roundRect">
            <a:avLst>
              <a:gd name="adj" fmla="val 4027"/>
            </a:avLst>
          </a:prstGeom>
          <a:solidFill>
            <a:srgbClr val="17223F"/>
          </a:solidFill>
          <a:ln/>
        </p:spPr>
      </p:sp>
      <p:sp>
        <p:nvSpPr>
          <p:cNvPr id="35" name="Shape 27"/>
          <p:cNvSpPr/>
          <p:nvPr/>
        </p:nvSpPr>
        <p:spPr>
          <a:xfrm>
            <a:off x="7202043" y="3927348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/home/claude/work/build/icons/b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1273" y="4076578"/>
            <a:ext cx="323332" cy="3233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32220" y="4658868"/>
            <a:ext cx="23614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332220" y="5207508"/>
            <a:ext cx="23614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9059418" y="3671316"/>
            <a:ext cx="2580894" cy="2043684"/>
          </a:xfrm>
          <a:prstGeom prst="roundRect">
            <a:avLst>
              <a:gd name="adj" fmla="val 4027"/>
            </a:avLst>
          </a:prstGeom>
          <a:solidFill>
            <a:srgbClr val="121B33"/>
          </a:solidFill>
          <a:ln/>
        </p:spPr>
      </p:sp>
      <p:sp>
        <p:nvSpPr>
          <p:cNvPr id="40" name="Shape 31"/>
          <p:cNvSpPr/>
          <p:nvPr/>
        </p:nvSpPr>
        <p:spPr>
          <a:xfrm>
            <a:off x="10038969" y="3927348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7" descr="/home/claude/work/build/icons/githu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88199" y="4076578"/>
            <a:ext cx="323332" cy="32333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69146" y="4658868"/>
            <a:ext cx="23614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9169146" y="5207508"/>
            <a:ext cx="23614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CI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CRYPTO INTELLIGENCE LAKEHOUSE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6903720" cy="5074920"/>
          </a:xfrm>
          <a:prstGeom prst="roundRect">
            <a:avLst>
              <a:gd name="adj" fmla="val 1622"/>
            </a:avLst>
          </a:prstGeom>
          <a:solidFill>
            <a:srgbClr val="11171C"/>
          </a:solidFill>
          <a:ln/>
        </p:spPr>
      </p:sp>
      <p:pic>
        <p:nvPicPr>
          <p:cNvPr id="5" name="Image 0" descr="/home/claude/work/docs/docs/assets/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206732"/>
            <a:ext cx="6574536" cy="30388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71232" y="1188720"/>
            <a:ext cx="4160520" cy="5074920"/>
          </a:xfrm>
          <a:prstGeom prst="roundRect">
            <a:avLst>
              <a:gd name="adj" fmla="val 1978"/>
            </a:avLst>
          </a:prstGeom>
          <a:solidFill>
            <a:srgbClr val="17223F"/>
          </a:solidFill>
          <a:ln/>
        </p:spPr>
      </p:sp>
      <p:sp>
        <p:nvSpPr>
          <p:cNvPr id="7" name="Text 4"/>
          <p:cNvSpPr/>
          <p:nvPr/>
        </p:nvSpPr>
        <p:spPr>
          <a:xfrm>
            <a:off x="78181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SEQUENCE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818120" y="178308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work/buil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1883664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39328" y="1764792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Generate social stream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818120" y="244144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work/buil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254203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39328" y="2423160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Generate metrics stream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818120" y="309981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3" descr="/home/claude/work/buil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3200400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39328" y="308152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Bronze ingestion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7818120" y="375818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/home/claude/work/buil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3858768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339328" y="3739896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Silver transformations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7818120" y="441655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5" descr="/home/claude/work/buil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4517136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339328" y="4398264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Gold aggregations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7818120" y="5074920"/>
            <a:ext cx="402336" cy="402336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24" name="Image 6" descr="/home/claude/work/buil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5175504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339328" y="5056632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ML prediction pipeline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7665415" y="5472684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end-to-end as Databricks Workflows jobs, with checkpointed streaming sources feeding the Medallion layers in sequence.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CRYPTO INTELLIGENCE LAKEHOUSE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Galaxy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6035040" cy="5074920"/>
          </a:xfrm>
          <a:prstGeom prst="roundRect">
            <a:avLst>
              <a:gd name="adj" fmla="val 1622"/>
            </a:avLst>
          </a:prstGeom>
          <a:solidFill>
            <a:srgbClr val="121B33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417320"/>
            <a:ext cx="5705856" cy="3291840"/>
          </a:xfrm>
          <a:prstGeom prst="roundRect">
            <a:avLst>
              <a:gd name="adj" fmla="val 2500"/>
            </a:avLst>
          </a:prstGeom>
          <a:solidFill>
            <a:srgbClr val="E1DFDD"/>
          </a:solidFill>
          <a:ln/>
        </p:spPr>
      </p:sp>
      <p:pic>
        <p:nvPicPr>
          <p:cNvPr id="6" name="Image 0" descr="/home/claude/work/docs/docs/assets/galax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439109"/>
            <a:ext cx="5705856" cy="32482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" y="4800600"/>
            <a:ext cx="5705856" cy="1298448"/>
          </a:xfrm>
          <a:prstGeom prst="roundRect">
            <a:avLst>
              <a:gd name="adj" fmla="val 6338"/>
            </a:avLst>
          </a:prstGeom>
          <a:solidFill>
            <a:srgbClr val="1C2C52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4937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GALAXY, NOT STAR?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5193792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fact tables — daily metrics and price predictions — share conformed dimensions (coin, date, sentiment). A galaxy schema lets both analytics and ML forecasts query the same dimensions without duplicating them.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656832" y="1188720"/>
            <a:ext cx="5074920" cy="2331720"/>
          </a:xfrm>
          <a:prstGeom prst="roundRect">
            <a:avLst>
              <a:gd name="adj" fmla="val 3529"/>
            </a:avLst>
          </a:prstGeom>
          <a:solidFill>
            <a:srgbClr val="17223F"/>
          </a:solidFill>
          <a:ln/>
        </p:spPr>
      </p:sp>
      <p:sp>
        <p:nvSpPr>
          <p:cNvPr id="11" name="Text 8"/>
          <p:cNvSpPr/>
          <p:nvPr/>
        </p:nvSpPr>
        <p:spPr>
          <a:xfrm>
            <a:off x="69037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work/build/icons/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89280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0" y="1810512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fact_crypto_daily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903720" y="24414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work/build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448" y="255117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98080" y="246888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fact_price_predictions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656832" y="3703320"/>
            <a:ext cx="5074920" cy="2560320"/>
          </a:xfrm>
          <a:prstGeom prst="roundRect">
            <a:avLst>
              <a:gd name="adj" fmla="val 3214"/>
            </a:avLst>
          </a:prstGeom>
          <a:solidFill>
            <a:srgbClr val="17223F"/>
          </a:solidFill>
          <a:ln/>
        </p:spPr>
      </p:sp>
      <p:sp>
        <p:nvSpPr>
          <p:cNvPr id="19" name="Text 14"/>
          <p:cNvSpPr/>
          <p:nvPr/>
        </p:nvSpPr>
        <p:spPr>
          <a:xfrm>
            <a:off x="690372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903720" y="4279392"/>
            <a:ext cx="2331720" cy="420624"/>
          </a:xfrm>
          <a:prstGeom prst="roundRect">
            <a:avLst>
              <a:gd name="adj" fmla="val 13043"/>
            </a:avLst>
          </a:prstGeom>
          <a:solidFill>
            <a:srgbClr val="1C2C52"/>
          </a:solidFill>
          <a:ln/>
        </p:spPr>
      </p:sp>
      <p:sp>
        <p:nvSpPr>
          <p:cNvPr id="21" name="Text 16"/>
          <p:cNvSpPr/>
          <p:nvPr/>
        </p:nvSpPr>
        <p:spPr>
          <a:xfrm>
            <a:off x="6903720" y="4279392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dim_coin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418320" y="4279392"/>
            <a:ext cx="2331720" cy="420624"/>
          </a:xfrm>
          <a:prstGeom prst="roundRect">
            <a:avLst>
              <a:gd name="adj" fmla="val 13043"/>
            </a:avLst>
          </a:prstGeom>
          <a:solidFill>
            <a:srgbClr val="1C2C52"/>
          </a:solidFill>
          <a:ln/>
        </p:spPr>
      </p:sp>
      <p:sp>
        <p:nvSpPr>
          <p:cNvPr id="23" name="Text 18"/>
          <p:cNvSpPr/>
          <p:nvPr/>
        </p:nvSpPr>
        <p:spPr>
          <a:xfrm>
            <a:off x="9418320" y="4279392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903720" y="4846320"/>
            <a:ext cx="2331720" cy="420624"/>
          </a:xfrm>
          <a:prstGeom prst="roundRect">
            <a:avLst>
              <a:gd name="adj" fmla="val 13043"/>
            </a:avLst>
          </a:prstGeom>
          <a:solidFill>
            <a:srgbClr val="1C2C52"/>
          </a:solidFill>
          <a:ln/>
        </p:spPr>
      </p:sp>
      <p:sp>
        <p:nvSpPr>
          <p:cNvPr id="25" name="Text 20"/>
          <p:cNvSpPr/>
          <p:nvPr/>
        </p:nvSpPr>
        <p:spPr>
          <a:xfrm>
            <a:off x="6903720" y="4846320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dim_sentiment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9418320" y="4846320"/>
            <a:ext cx="2331720" cy="420624"/>
          </a:xfrm>
          <a:prstGeom prst="roundRect">
            <a:avLst>
              <a:gd name="adj" fmla="val 13043"/>
            </a:avLst>
          </a:prstGeom>
          <a:solidFill>
            <a:srgbClr val="1C2C52"/>
          </a:solidFill>
          <a:ln/>
        </p:spPr>
      </p:sp>
      <p:sp>
        <p:nvSpPr>
          <p:cNvPr id="27" name="Text 22"/>
          <p:cNvSpPr/>
          <p:nvPr/>
        </p:nvSpPr>
        <p:spPr>
          <a:xfrm>
            <a:off x="9418320" y="4846320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dim_flow_signal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903720" y="5413248"/>
            <a:ext cx="2331720" cy="420624"/>
          </a:xfrm>
          <a:prstGeom prst="roundRect">
            <a:avLst>
              <a:gd name="adj" fmla="val 13043"/>
            </a:avLst>
          </a:prstGeom>
          <a:solidFill>
            <a:srgbClr val="1C2C52"/>
          </a:solidFill>
          <a:ln/>
        </p:spPr>
      </p:sp>
      <p:sp>
        <p:nvSpPr>
          <p:cNvPr id="29" name="Text 24"/>
          <p:cNvSpPr/>
          <p:nvPr/>
        </p:nvSpPr>
        <p:spPr>
          <a:xfrm>
            <a:off x="6903720" y="5413248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dim_ma_signal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CRYPTO INTELLIGENCE LAKEHOUSE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94960" cy="5074920"/>
          </a:xfrm>
          <a:prstGeom prst="roundRect">
            <a:avLst>
              <a:gd name="adj" fmla="val 1622"/>
            </a:avLst>
          </a:prstGeom>
          <a:solidFill>
            <a:srgbClr val="121B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work/buil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1109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8105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Price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23957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work/buil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478024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37744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31520" y="296265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work/buil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04495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94436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Volume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31520" y="352958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/home/claude/work/buil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61188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351129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MA7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731520" y="409651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4" descr="/home/claude/work/buil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178808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34440" y="407822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MA14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731520" y="46634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5" descr="/home/claude/work/buil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74573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234440" y="464515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MA30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731520" y="52303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6" descr="/home/claude/work/buil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5312664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234440" y="521208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Score</a:t>
            </a:r>
            <a:endParaRPr lang="en-US" sz="1400" dirty="0"/>
          </a:p>
        </p:txBody>
      </p:sp>
      <p:sp>
        <p:nvSpPr>
          <p:cNvPr id="27" name="Shape 18"/>
          <p:cNvSpPr/>
          <p:nvPr/>
        </p:nvSpPr>
        <p:spPr>
          <a:xfrm>
            <a:off x="6035040" y="1188720"/>
            <a:ext cx="5696712" cy="5074920"/>
          </a:xfrm>
          <a:prstGeom prst="roundRect">
            <a:avLst>
              <a:gd name="adj" fmla="val 1622"/>
            </a:avLst>
          </a:prstGeom>
          <a:solidFill>
            <a:srgbClr val="17223F"/>
          </a:solidFill>
          <a:ln/>
        </p:spPr>
      </p:sp>
      <p:sp>
        <p:nvSpPr>
          <p:cNvPr id="28" name="Text 19"/>
          <p:cNvSpPr/>
          <p:nvPr/>
        </p:nvSpPr>
        <p:spPr>
          <a:xfrm>
            <a:off x="630936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6309360" y="1874520"/>
            <a:ext cx="5120640" cy="1188720"/>
          </a:xfrm>
          <a:prstGeom prst="roundRect">
            <a:avLst>
              <a:gd name="adj" fmla="val 6923"/>
            </a:avLst>
          </a:prstGeom>
          <a:solidFill>
            <a:srgbClr val="1C2C52"/>
          </a:solidFill>
          <a:ln/>
        </p:spPr>
      </p:sp>
      <p:sp>
        <p:nvSpPr>
          <p:cNvPr id="30" name="Text 21"/>
          <p:cNvSpPr/>
          <p:nvPr/>
        </p:nvSpPr>
        <p:spPr>
          <a:xfrm>
            <a:off x="6537960" y="1947672"/>
            <a:ext cx="23774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96.1%</a:t>
            </a:r>
            <a:endParaRPr lang="en-US" sz="4200" dirty="0"/>
          </a:p>
        </p:txBody>
      </p:sp>
      <p:sp>
        <p:nvSpPr>
          <p:cNvPr id="31" name="Text 22"/>
          <p:cNvSpPr/>
          <p:nvPr/>
        </p:nvSpPr>
        <p:spPr>
          <a:xfrm>
            <a:off x="8869680" y="18745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6309360" y="3291840"/>
            <a:ext cx="5120640" cy="1188720"/>
          </a:xfrm>
          <a:prstGeom prst="roundRect">
            <a:avLst>
              <a:gd name="adj" fmla="val 6923"/>
            </a:avLst>
          </a:prstGeom>
          <a:solidFill>
            <a:srgbClr val="1C2C52"/>
          </a:solidFill>
          <a:ln/>
        </p:spPr>
      </p:sp>
      <p:sp>
        <p:nvSpPr>
          <p:cNvPr id="33" name="Text 24"/>
          <p:cNvSpPr/>
          <p:nvPr/>
        </p:nvSpPr>
        <p:spPr>
          <a:xfrm>
            <a:off x="6537960" y="3364992"/>
            <a:ext cx="23774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3.9%</a:t>
            </a:r>
            <a:endParaRPr lang="en-US" sz="4200" dirty="0"/>
          </a:p>
        </p:txBody>
      </p:sp>
      <p:sp>
        <p:nvSpPr>
          <p:cNvPr id="34" name="Text 25"/>
          <p:cNvSpPr/>
          <p:nvPr/>
        </p:nvSpPr>
        <p:spPr>
          <a:xfrm>
            <a:off x="8869680" y="3291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400" dirty="0"/>
          </a:p>
        </p:txBody>
      </p:sp>
      <p:sp>
        <p:nvSpPr>
          <p:cNvPr id="35" name="Shape 26"/>
          <p:cNvSpPr/>
          <p:nvPr/>
        </p:nvSpPr>
        <p:spPr>
          <a:xfrm>
            <a:off x="6309360" y="4709160"/>
            <a:ext cx="5120640" cy="1188720"/>
          </a:xfrm>
          <a:prstGeom prst="roundRect">
            <a:avLst>
              <a:gd name="adj" fmla="val 6923"/>
            </a:avLst>
          </a:prstGeom>
          <a:solidFill>
            <a:srgbClr val="1C2C52"/>
          </a:solidFill>
          <a:ln/>
        </p:spPr>
      </p:sp>
      <p:sp>
        <p:nvSpPr>
          <p:cNvPr id="36" name="Text 27"/>
          <p:cNvSpPr/>
          <p:nvPr/>
        </p:nvSpPr>
        <p:spPr>
          <a:xfrm>
            <a:off x="6537960" y="4782312"/>
            <a:ext cx="23774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$31.12</a:t>
            </a:r>
            <a:endParaRPr lang="en-US" sz="4200" dirty="0"/>
          </a:p>
        </p:txBody>
      </p:sp>
      <p:sp>
        <p:nvSpPr>
          <p:cNvPr id="37" name="Text 28"/>
          <p:cNvSpPr/>
          <p:nvPr/>
        </p:nvSpPr>
        <p:spPr>
          <a:xfrm>
            <a:off x="8869680" y="47091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(USD)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CRYPTO INTELLIGENCE LAKEHOUSE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4160520"/>
          </a:xfrm>
          <a:prstGeom prst="roundRect">
            <a:avLst>
              <a:gd name="adj" fmla="val 1978"/>
            </a:avLst>
          </a:prstGeom>
          <a:solidFill>
            <a:srgbClr val="121B33"/>
          </a:solidFill>
          <a:ln/>
        </p:spPr>
      </p:sp>
      <p:pic>
        <p:nvPicPr>
          <p:cNvPr id="5" name="Image 0" descr="/home/claude/work/docs/docs/assets/dash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" y="1316736"/>
            <a:ext cx="10981944" cy="3904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486400"/>
            <a:ext cx="3636264" cy="868680"/>
          </a:xfrm>
          <a:prstGeom prst="roundRect">
            <a:avLst>
              <a:gd name="adj" fmla="val 9474"/>
            </a:avLst>
          </a:prstGeom>
          <a:solidFill>
            <a:srgbClr val="17223F"/>
          </a:solidFill>
          <a:ln/>
        </p:spPr>
      </p:sp>
      <p:sp>
        <p:nvSpPr>
          <p:cNvPr id="7" name="Shape 4"/>
          <p:cNvSpPr/>
          <p:nvPr/>
        </p:nvSpPr>
        <p:spPr>
          <a:xfrm>
            <a:off x="621792" y="570585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work/buil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32" y="5800496"/>
            <a:ext cx="231343" cy="231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3856" y="5486400"/>
            <a:ext cx="2813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across tracked coins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276344" y="5486400"/>
            <a:ext cx="3636264" cy="868680"/>
          </a:xfrm>
          <a:prstGeom prst="roundRect">
            <a:avLst>
              <a:gd name="adj" fmla="val 9474"/>
            </a:avLst>
          </a:prstGeom>
          <a:solidFill>
            <a:srgbClr val="17223F"/>
          </a:solidFill>
          <a:ln/>
        </p:spPr>
      </p:sp>
      <p:sp>
        <p:nvSpPr>
          <p:cNvPr id="11" name="Shape 7"/>
          <p:cNvSpPr/>
          <p:nvPr/>
        </p:nvSpPr>
        <p:spPr>
          <a:xfrm>
            <a:off x="4440936" y="570585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work/buil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576" y="5800496"/>
            <a:ext cx="231343" cy="231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53000" y="5486400"/>
            <a:ext cx="2813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coins by cap &amp; volume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095488" y="5486400"/>
            <a:ext cx="3636264" cy="868680"/>
          </a:xfrm>
          <a:prstGeom prst="roundRect">
            <a:avLst>
              <a:gd name="adj" fmla="val 9474"/>
            </a:avLst>
          </a:prstGeom>
          <a:solidFill>
            <a:srgbClr val="17223F"/>
          </a:solidFill>
          <a:ln/>
        </p:spPr>
      </p:sp>
      <p:sp>
        <p:nvSpPr>
          <p:cNvPr id="15" name="Shape 10"/>
          <p:cNvSpPr/>
          <p:nvPr/>
        </p:nvSpPr>
        <p:spPr>
          <a:xfrm>
            <a:off x="8260080" y="570585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/home/claude/work/buil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4720" y="5800496"/>
            <a:ext cx="231343" cy="231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72144" y="5486400"/>
            <a:ext cx="2813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 distribution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CRYPTO INTELLIGENCE LAKEHOUSE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4160520"/>
          </a:xfrm>
          <a:prstGeom prst="roundRect">
            <a:avLst>
              <a:gd name="adj" fmla="val 1978"/>
            </a:avLst>
          </a:prstGeom>
          <a:solidFill>
            <a:srgbClr val="121B33"/>
          </a:solidFill>
          <a:ln/>
        </p:spPr>
      </p:sp>
      <p:pic>
        <p:nvPicPr>
          <p:cNvPr id="5" name="Image 0" descr="/home/claude/work/docs/docs/assets/dash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" y="1316736"/>
            <a:ext cx="10981944" cy="3904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486400"/>
            <a:ext cx="3636264" cy="868680"/>
          </a:xfrm>
          <a:prstGeom prst="roundRect">
            <a:avLst>
              <a:gd name="adj" fmla="val 9474"/>
            </a:avLst>
          </a:prstGeom>
          <a:solidFill>
            <a:srgbClr val="17223F"/>
          </a:solidFill>
          <a:ln/>
        </p:spPr>
      </p:sp>
      <p:sp>
        <p:nvSpPr>
          <p:cNvPr id="7" name="Shape 4"/>
          <p:cNvSpPr/>
          <p:nvPr/>
        </p:nvSpPr>
        <p:spPr>
          <a:xfrm>
            <a:off x="621792" y="570585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work/buil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32" y="5800496"/>
            <a:ext cx="231343" cy="231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3856" y="5486400"/>
            <a:ext cx="2813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averages (MA7 / MA14 / MA30)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276344" y="5486400"/>
            <a:ext cx="3636264" cy="868680"/>
          </a:xfrm>
          <a:prstGeom prst="roundRect">
            <a:avLst>
              <a:gd name="adj" fmla="val 9474"/>
            </a:avLst>
          </a:prstGeom>
          <a:solidFill>
            <a:srgbClr val="17223F"/>
          </a:solidFill>
          <a:ln/>
        </p:spPr>
      </p:sp>
      <p:sp>
        <p:nvSpPr>
          <p:cNvPr id="11" name="Shape 7"/>
          <p:cNvSpPr/>
          <p:nvPr/>
        </p:nvSpPr>
        <p:spPr>
          <a:xfrm>
            <a:off x="4440936" y="570585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work/buil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576" y="5800496"/>
            <a:ext cx="231343" cy="231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53000" y="5486400"/>
            <a:ext cx="2813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tracking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095488" y="5486400"/>
            <a:ext cx="3636264" cy="868680"/>
          </a:xfrm>
          <a:prstGeom prst="roundRect">
            <a:avLst>
              <a:gd name="adj" fmla="val 9474"/>
            </a:avLst>
          </a:prstGeom>
          <a:solidFill>
            <a:srgbClr val="17223F"/>
          </a:solidFill>
          <a:ln/>
        </p:spPr>
      </p:sp>
      <p:sp>
        <p:nvSpPr>
          <p:cNvPr id="15" name="Shape 10"/>
          <p:cNvSpPr/>
          <p:nvPr/>
        </p:nvSpPr>
        <p:spPr>
          <a:xfrm>
            <a:off x="8260080" y="570585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/home/claude/work/buil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4720" y="5800496"/>
            <a:ext cx="231343" cy="231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72144" y="5486400"/>
            <a:ext cx="2813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MA-based trading signals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CRYPTO INTELLIGENCE LAKEHOUSE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&amp; Market Signals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4160520"/>
          </a:xfrm>
          <a:prstGeom prst="roundRect">
            <a:avLst>
              <a:gd name="adj" fmla="val 1978"/>
            </a:avLst>
          </a:prstGeom>
          <a:solidFill>
            <a:srgbClr val="121B33"/>
          </a:solidFill>
          <a:ln/>
        </p:spPr>
      </p:sp>
      <p:pic>
        <p:nvPicPr>
          <p:cNvPr id="5" name="Image 0" descr="/home/claude/work/docs/docs/assets/dash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" y="1316736"/>
            <a:ext cx="10981944" cy="3904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486400"/>
            <a:ext cx="3636264" cy="868680"/>
          </a:xfrm>
          <a:prstGeom prst="roundRect">
            <a:avLst>
              <a:gd name="adj" fmla="val 9474"/>
            </a:avLst>
          </a:prstGeom>
          <a:solidFill>
            <a:srgbClr val="17223F"/>
          </a:solidFill>
          <a:ln/>
        </p:spPr>
      </p:sp>
      <p:sp>
        <p:nvSpPr>
          <p:cNvPr id="7" name="Shape 4"/>
          <p:cNvSpPr/>
          <p:nvPr/>
        </p:nvSpPr>
        <p:spPr>
          <a:xfrm>
            <a:off x="621792" y="570585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work/buil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32" y="5800496"/>
            <a:ext cx="231343" cy="231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3856" y="5486400"/>
            <a:ext cx="2813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sentiment score over time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276344" y="5486400"/>
            <a:ext cx="3636264" cy="868680"/>
          </a:xfrm>
          <a:prstGeom prst="roundRect">
            <a:avLst>
              <a:gd name="adj" fmla="val 9474"/>
            </a:avLst>
          </a:prstGeom>
          <a:solidFill>
            <a:srgbClr val="17223F"/>
          </a:solidFill>
          <a:ln/>
        </p:spPr>
      </p:sp>
      <p:sp>
        <p:nvSpPr>
          <p:cNvPr id="11" name="Shape 7"/>
          <p:cNvSpPr/>
          <p:nvPr/>
        </p:nvSpPr>
        <p:spPr>
          <a:xfrm>
            <a:off x="4440936" y="570585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work/buil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576" y="5800496"/>
            <a:ext cx="231343" cy="231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53000" y="5486400"/>
            <a:ext cx="2813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in/out flow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095488" y="5486400"/>
            <a:ext cx="3636264" cy="868680"/>
          </a:xfrm>
          <a:prstGeom prst="roundRect">
            <a:avLst>
              <a:gd name="adj" fmla="val 9474"/>
            </a:avLst>
          </a:prstGeom>
          <a:solidFill>
            <a:srgbClr val="17223F"/>
          </a:solidFill>
          <a:ln/>
        </p:spPr>
      </p:sp>
      <p:sp>
        <p:nvSpPr>
          <p:cNvPr id="15" name="Shape 10"/>
          <p:cNvSpPr/>
          <p:nvPr/>
        </p:nvSpPr>
        <p:spPr>
          <a:xfrm>
            <a:off x="8260080" y="570585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/home/claude/work/buil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4720" y="5800496"/>
            <a:ext cx="231343" cy="231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72144" y="5486400"/>
            <a:ext cx="2813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transaction metrics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CRYPTO INTELLIGENCE LAKEHOUSE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Predictions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4160520"/>
          </a:xfrm>
          <a:prstGeom prst="roundRect">
            <a:avLst>
              <a:gd name="adj" fmla="val 1978"/>
            </a:avLst>
          </a:prstGeom>
          <a:solidFill>
            <a:srgbClr val="121B33"/>
          </a:solidFill>
          <a:ln/>
        </p:spPr>
      </p:sp>
      <p:pic>
        <p:nvPicPr>
          <p:cNvPr id="5" name="Image 0" descr="/home/claude/work/docs/docs/assets/dash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" y="1316736"/>
            <a:ext cx="10981944" cy="3904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486400"/>
            <a:ext cx="3636264" cy="868680"/>
          </a:xfrm>
          <a:prstGeom prst="roundRect">
            <a:avLst>
              <a:gd name="adj" fmla="val 9474"/>
            </a:avLst>
          </a:prstGeom>
          <a:solidFill>
            <a:srgbClr val="17223F"/>
          </a:solidFill>
          <a:ln/>
        </p:spPr>
      </p:sp>
      <p:sp>
        <p:nvSpPr>
          <p:cNvPr id="7" name="Shape 4"/>
          <p:cNvSpPr/>
          <p:nvPr/>
        </p:nvSpPr>
        <p:spPr>
          <a:xfrm>
            <a:off x="621792" y="570585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work/buil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32" y="5800496"/>
            <a:ext cx="231343" cy="231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3856" y="5486400"/>
            <a:ext cx="2813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price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276344" y="5486400"/>
            <a:ext cx="3636264" cy="868680"/>
          </a:xfrm>
          <a:prstGeom prst="roundRect">
            <a:avLst>
              <a:gd name="adj" fmla="val 9474"/>
            </a:avLst>
          </a:prstGeom>
          <a:solidFill>
            <a:srgbClr val="17223F"/>
          </a:solidFill>
          <a:ln/>
        </p:spPr>
      </p:sp>
      <p:sp>
        <p:nvSpPr>
          <p:cNvPr id="11" name="Shape 7"/>
          <p:cNvSpPr/>
          <p:nvPr/>
        </p:nvSpPr>
        <p:spPr>
          <a:xfrm>
            <a:off x="4440936" y="570585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work/buil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576" y="5800496"/>
            <a:ext cx="231343" cy="231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53000" y="5486400"/>
            <a:ext cx="2813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error tracking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095488" y="5486400"/>
            <a:ext cx="3636264" cy="868680"/>
          </a:xfrm>
          <a:prstGeom prst="roundRect">
            <a:avLst>
              <a:gd name="adj" fmla="val 9474"/>
            </a:avLst>
          </a:prstGeom>
          <a:solidFill>
            <a:srgbClr val="17223F"/>
          </a:solidFill>
          <a:ln/>
        </p:spPr>
      </p:sp>
      <p:sp>
        <p:nvSpPr>
          <p:cNvPr id="15" name="Shape 10"/>
          <p:cNvSpPr/>
          <p:nvPr/>
        </p:nvSpPr>
        <p:spPr>
          <a:xfrm>
            <a:off x="8260080" y="570585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/home/claude/work/buil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4720" y="5800496"/>
            <a:ext cx="231343" cy="231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72144" y="5486400"/>
            <a:ext cx="2813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Next-period forecast table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CRYPTO INTELLIGENCE LAKEHOUSE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26614" cy="4846320"/>
          </a:xfrm>
          <a:prstGeom prst="roundRect">
            <a:avLst>
              <a:gd name="adj" fmla="val 3133"/>
            </a:avLst>
          </a:prstGeom>
          <a:solidFill>
            <a:srgbClr val="121B33"/>
          </a:solidFill>
          <a:ln/>
        </p:spPr>
      </p:sp>
      <p:sp>
        <p:nvSpPr>
          <p:cNvPr id="5" name="Shape 3"/>
          <p:cNvSpPr/>
          <p:nvPr/>
        </p:nvSpPr>
        <p:spPr>
          <a:xfrm>
            <a:off x="1450467" y="1737360"/>
            <a:ext cx="640080" cy="64008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6" name="Image 0" descr="/home/claude/work/build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487" y="18973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606040"/>
            <a:ext cx="229743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Schema Evolution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226085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changing source schemas without breaking live streams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9846" y="1417320"/>
            <a:ext cx="2626614" cy="4846320"/>
          </a:xfrm>
          <a:prstGeom prst="roundRect">
            <a:avLst>
              <a:gd name="adj" fmla="val 3133"/>
            </a:avLst>
          </a:prstGeom>
          <a:solidFill>
            <a:srgbClr val="17223F"/>
          </a:solidFill>
          <a:ln/>
        </p:spPr>
      </p:sp>
      <p:sp>
        <p:nvSpPr>
          <p:cNvPr id="10" name="Shape 7"/>
          <p:cNvSpPr/>
          <p:nvPr/>
        </p:nvSpPr>
        <p:spPr>
          <a:xfrm>
            <a:off x="4333113" y="1737360"/>
            <a:ext cx="640080" cy="64008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1" name="Image 1" descr="/home/claude/work/build/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133" y="18973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4438" y="2606040"/>
            <a:ext cx="229743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Checkpoints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22726" y="3429000"/>
            <a:ext cx="226085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exactly-once, resumable streaming state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22492" y="1417320"/>
            <a:ext cx="2626614" cy="4846320"/>
          </a:xfrm>
          <a:prstGeom prst="roundRect">
            <a:avLst>
              <a:gd name="adj" fmla="val 3133"/>
            </a:avLst>
          </a:prstGeom>
          <a:solidFill>
            <a:srgbClr val="121B33"/>
          </a:solidFill>
          <a:ln/>
        </p:spPr>
      </p:sp>
      <p:sp>
        <p:nvSpPr>
          <p:cNvPr id="15" name="Shape 11"/>
          <p:cNvSpPr/>
          <p:nvPr/>
        </p:nvSpPr>
        <p:spPr>
          <a:xfrm>
            <a:off x="7215759" y="1737360"/>
            <a:ext cx="640080" cy="64008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6" name="Image 2" descr="/home/claude/work/build/icons/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5779" y="18973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87084" y="2606040"/>
            <a:ext cx="229743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Joining Batch &amp; Streaming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05372" y="3429000"/>
            <a:ext cx="226085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Reconciling data of different latencies into Silver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05138" y="1417320"/>
            <a:ext cx="2626614" cy="4846320"/>
          </a:xfrm>
          <a:prstGeom prst="roundRect">
            <a:avLst>
              <a:gd name="adj" fmla="val 3133"/>
            </a:avLst>
          </a:prstGeom>
          <a:solidFill>
            <a:srgbClr val="17223F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98405" y="1737360"/>
            <a:ext cx="640080" cy="64008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21" name="Image 3" descr="/home/claude/work/build/icons/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8425" y="18973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69730" y="2606040"/>
            <a:ext cx="229743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88018" y="3429000"/>
            <a:ext cx="226085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signals that meaningfully improve prediction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CRYPTO INTELLIGENCE LAKEHOUSE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509260" cy="2286000"/>
          </a:xfrm>
          <a:prstGeom prst="roundRect">
            <a:avLst>
              <a:gd name="adj" fmla="val 3600"/>
            </a:avLst>
          </a:prstGeom>
          <a:solidFill>
            <a:srgbClr val="121B3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ork/build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8105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27632"/>
            <a:ext cx="41376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Analytics Platform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00200" y="2176272"/>
            <a:ext cx="41376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Lakehouse replacing fragmented, source-by-source analysis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22492" y="1371600"/>
            <a:ext cx="5509260" cy="2286000"/>
          </a:xfrm>
          <a:prstGeom prst="roundRect">
            <a:avLst>
              <a:gd name="adj" fmla="val 3600"/>
            </a:avLst>
          </a:prstGeom>
          <a:solidFill>
            <a:srgbClr val="121B33"/>
          </a:solidFill>
          <a:ln/>
        </p:spPr>
      </p:sp>
      <p:sp>
        <p:nvSpPr>
          <p:cNvPr id="10" name="Shape 7"/>
          <p:cNvSpPr/>
          <p:nvPr/>
        </p:nvSpPr>
        <p:spPr>
          <a:xfrm>
            <a:off x="6496812" y="16459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work/build/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404" y="18105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5492" y="1627632"/>
            <a:ext cx="41376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Market Insights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65492" y="2176272"/>
            <a:ext cx="41376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ingestion keeps signals current to the minute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913632"/>
            <a:ext cx="5509260" cy="2286000"/>
          </a:xfrm>
          <a:prstGeom prst="roundRect">
            <a:avLst>
              <a:gd name="adj" fmla="val 3600"/>
            </a:avLst>
          </a:prstGeom>
          <a:solidFill>
            <a:srgbClr val="121B33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418795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work/build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352544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69664"/>
            <a:ext cx="41376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ML Forecasting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00200" y="4718304"/>
            <a:ext cx="41376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price prediction at 96.1% accuracy, no manual modeling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22492" y="3913632"/>
            <a:ext cx="5509260" cy="2286000"/>
          </a:xfrm>
          <a:prstGeom prst="roundRect">
            <a:avLst>
              <a:gd name="adj" fmla="val 3600"/>
            </a:avLst>
          </a:prstGeom>
          <a:solidFill>
            <a:srgbClr val="121B33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6812" y="418795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work/build/icons/ro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1404" y="4352544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5492" y="4169664"/>
            <a:ext cx="41376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Scalable Pipeline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65492" y="4718304"/>
            <a:ext cx="41376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Orchestrated, checkpointed, and ready to add new sources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CRYPTO INTELLIGENCE LAKEHOUSE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1C2C5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200400"/>
            <a:ext cx="5943600" cy="59436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3172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375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893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Hamed Abdelmonim (Team Leader)   ·   Seif Mohamed Fathi   ·   Nada Mahmoud Hamed   ·   Yehia Yasser Yehia   ·   Nourhan Ahmed Gaber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CRYPTO INTELLIGENCE LAKEHOUSE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1132</Words>
  <Application>Microsoft Office PowerPoint</Application>
  <PresentationFormat>Widescreen</PresentationFormat>
  <Paragraphs>199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Youssef Hamedd</cp:lastModifiedBy>
  <cp:revision>3</cp:revision>
  <dcterms:created xsi:type="dcterms:W3CDTF">2026-07-10T19:28:09Z</dcterms:created>
  <dcterms:modified xsi:type="dcterms:W3CDTF">2026-07-10T19:39:16Z</dcterms:modified>
</cp:coreProperties>
</file>